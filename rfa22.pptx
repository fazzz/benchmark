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1056" r:id="rId3"/>
    <p:sldId id="1058" r:id="rId4"/>
    <p:sldId id="106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howGuides="1">
      <p:cViewPr varScale="1">
        <p:scale>
          <a:sx n="116" d="100"/>
          <a:sy n="116" d="100"/>
        </p:scale>
        <p:origin x="224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4D1EF-2A46-B276-789F-CFD96E24F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A3E05C-9200-C75C-22D9-8F53F8E2E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EFBA63-9BB6-0CB5-A8C0-CE82837E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9BE9F5-F112-D2DB-CAC9-C3356408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F585B0-CA22-ED6C-F2D7-EA3D453F3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00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B8DA6-7E9C-55B3-8B2D-080211F6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0BDB88-D9D7-2211-F406-349EEBF42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3061B-8622-F2A3-CD5A-595CB77E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82CC05-4E93-AC7C-259E-4F945A15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36EDDC-5901-29EE-A366-B4E05317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02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C5946-FB34-C94D-167D-0AB1A960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8D14E-D372-642E-DDFE-6E0F9AE12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2C2430-8D7B-E377-A952-5F960EA4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EEC95-95C5-6C3B-4B1B-EA405FDD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3E69B5-FB61-5970-AE34-861EC236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23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FBF1F-A157-E48F-EC60-44971512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01C59A-FE75-5811-4903-9961AC0E9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E14EE5-8258-97DC-29C8-DC8765A7C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26FD2B-18AB-64E2-22E2-78BF6456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B4D4E0-CB53-1639-A457-874D6DE1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A5F4A-C04B-BB9D-9D0B-8CF7380B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09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EF708-C1EC-944B-12BF-283E757C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842EE2-0F81-D7AB-7F02-5CB7E53DA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E94595-E793-F4B5-FB9E-8EC44002D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A5D524-D624-9657-F44D-BE00CD705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FB8A3A-7980-6A21-24A8-51075C767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8D3E2B-C90B-7128-EF01-8ED5C0990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408D5F-76FD-FBBA-AEE2-9FC61191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9899EB-5B16-F2A8-FA19-0B7C30FD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46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D469E-DE18-DEFD-4623-C416D44C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148E86-6D87-99EA-AE99-D5F14D14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355BA4-14F7-2600-86D7-251E8D56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53C40C-F42C-2725-D712-A0F6564F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33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0F68B0-311B-9076-E9B0-AC6334FF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833124-6314-0AE1-269C-1BCAA34E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DEA8BC-9722-A478-25CC-E492B956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1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52EA3-4793-0C73-428D-094E0D59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DC1FA5-942E-3EF0-8356-A7ED15CA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8C35C9-E4FA-6DA9-ED49-20A71AA3A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C3DC95-09AD-C953-190B-03F5D003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29D0E2-BA86-7FAE-0370-FEB213A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C4BAA4-C6CE-C50F-8311-713C47F0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06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D276E-5A16-FCBF-5F3A-7ABD1CB6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B74D73-0D3D-BD80-8AFD-47B9A8A75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00D996-CC96-A23C-3562-61C2DC7F8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47A020-EBB1-A398-1DA2-10E59B1F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BC9711-BCA5-02FD-9798-299D332E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1B78A5-9C40-7EB8-5806-979293DA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2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B1A4D-540B-257B-839E-BAB5570E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ED9910-8A95-5D95-82DA-92A039AE5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C7BAD0-A57F-5253-0EBB-DE41A873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76C548-4AC9-9220-ECB9-D764E6CD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ED3015-D9E3-8D4F-E05D-0A44B53B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41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AC85ED0-1251-959F-D144-C04A1366C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B13D9E-F57D-783C-0819-2873E440C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AD924-01D9-5744-8C66-05799B56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CBAF3-4D9F-A379-9AFF-56CB679A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E48E74-3BDC-72D8-AEBA-C6F37209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15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8695AC-46DF-A3E3-E072-A62322AC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AD6476-8049-C02A-2818-5AEC1746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CDE690-EA7A-0CF7-D926-D3B363795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B7F35-9473-CA4A-8A32-86D64BCA1DFE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7D12C-646A-EA74-10DD-1BD203867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782E39-2043-6E3A-67C1-262A7A2BF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D0DDB-F236-D94E-B911-605573DC1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54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0B812-46FF-D136-4AF7-427559BA4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0F1A39-2A36-424B-A5B4-2A3A4E773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39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DE3526-37F0-0485-137D-BFE916E9E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1430"/>
            <a:ext cx="8229600" cy="1143000"/>
          </a:xfrm>
        </p:spPr>
        <p:txBody>
          <a:bodyPr/>
          <a:lstStyle/>
          <a:p>
            <a:r>
              <a:rPr kumimoji="1" lang="en-US" altLang="ja-JP" dirty="0" err="1"/>
              <a:t>RoseTTAFold</a:t>
            </a:r>
            <a:r>
              <a:rPr kumimoji="1" lang="en-US" altLang="ja-JP" dirty="0"/>
              <a:t> All-Atom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010B3E-5DB7-3021-DE43-F34F1EF9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74693"/>
            <a:ext cx="8229600" cy="4525963"/>
          </a:xfrm>
        </p:spPr>
        <p:txBody>
          <a:bodyPr/>
          <a:lstStyle/>
          <a:p>
            <a:r>
              <a:rPr kumimoji="1" lang="en-US" altLang="ja-JP" dirty="0"/>
              <a:t>Paper published</a:t>
            </a:r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2000" dirty="0"/>
          </a:p>
          <a:p>
            <a:r>
              <a:rPr lang="en-US" altLang="ja-JP" dirty="0"/>
              <a:t>Code 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15039-E243-C3C4-9DDF-D77DF442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9B56-A4CF-4048-93C5-CA03990B432E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E3D09A4-FF68-A0ED-EE7E-E867F962F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212" y="3998287"/>
            <a:ext cx="5365576" cy="285797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770C89-4B59-A30E-3756-2C1434FED3C8}"/>
              </a:ext>
            </a:extLst>
          </p:cNvPr>
          <p:cNvSpPr txBox="1"/>
          <p:nvPr/>
        </p:nvSpPr>
        <p:spPr>
          <a:xfrm>
            <a:off x="3422340" y="3537675"/>
            <a:ext cx="6030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https://github.com/baker-laboratory/RoseTTAFold-All-Atom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7BF3A54-A1E3-F538-2E48-09626C67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212" y="1887516"/>
            <a:ext cx="5660070" cy="14609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3B27BE-CD3D-D634-3611-EDF67BD59F98}"/>
              </a:ext>
            </a:extLst>
          </p:cNvPr>
          <p:cNvSpPr txBox="1"/>
          <p:nvPr/>
        </p:nvSpPr>
        <p:spPr>
          <a:xfrm>
            <a:off x="5087888" y="1417639"/>
            <a:ext cx="5339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https://www.science.org/doi/10.1126/science.adl2528</a:t>
            </a:r>
          </a:p>
        </p:txBody>
      </p:sp>
    </p:spTree>
    <p:extLst>
      <p:ext uri="{BB962C8B-B14F-4D97-AF65-F5344CB8AC3E}">
        <p14:creationId xmlns:p14="http://schemas.microsoft.com/office/powerpoint/2010/main" val="250682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CD2050-98CF-B325-8210-726134DFF93C}"/>
              </a:ext>
            </a:extLst>
          </p:cNvPr>
          <p:cNvGrpSpPr/>
          <p:nvPr/>
        </p:nvGrpSpPr>
        <p:grpSpPr>
          <a:xfrm>
            <a:off x="7726932" y="3140968"/>
            <a:ext cx="1033365" cy="792088"/>
            <a:chOff x="8105502" y="3840200"/>
            <a:chExt cx="1033365" cy="792088"/>
          </a:xfrm>
        </p:grpSpPr>
        <p:sp>
          <p:nvSpPr>
            <p:cNvPr id="15" name="右矢印 14">
              <a:extLst>
                <a:ext uri="{FF2B5EF4-FFF2-40B4-BE49-F238E27FC236}">
                  <a16:creationId xmlns:a16="http://schemas.microsoft.com/office/drawing/2014/main" id="{D894AA21-295A-629A-9BDA-ABC375DBA85C}"/>
                </a:ext>
              </a:extLst>
            </p:cNvPr>
            <p:cNvSpPr/>
            <p:nvPr/>
          </p:nvSpPr>
          <p:spPr>
            <a:xfrm rot="5400000">
              <a:off x="8351798" y="4109022"/>
              <a:ext cx="510504" cy="536027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ADF8E1E-8340-E626-0495-72A0C5B8EE63}"/>
                </a:ext>
              </a:extLst>
            </p:cNvPr>
            <p:cNvSpPr/>
            <p:nvPr/>
          </p:nvSpPr>
          <p:spPr>
            <a:xfrm>
              <a:off x="8105502" y="3840200"/>
              <a:ext cx="10333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899183D-5BBD-1470-7005-479DDC90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RF2aa on ABCI</a:t>
            </a:r>
            <a:endParaRPr kumimoji="1" lang="ja-JP" altLang="en-US"/>
          </a:p>
        </p:txBody>
      </p:sp>
      <p:pic>
        <p:nvPicPr>
          <p:cNvPr id="5" name="pdb">
            <a:hlinkClick r:id="" action="ppaction://media"/>
            <a:extLst>
              <a:ext uri="{FF2B5EF4-FFF2-40B4-BE49-F238E27FC236}">
                <a16:creationId xmlns:a16="http://schemas.microsoft.com/office/drawing/2014/main" id="{A41588A0-25B8-7793-D546-CEDF639F299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14224" t="20472" r="20545" b="19071"/>
          <a:stretch/>
        </p:blipFill>
        <p:spPr>
          <a:xfrm>
            <a:off x="2587868" y="3802608"/>
            <a:ext cx="2952328" cy="2736304"/>
          </a:xfr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794E10-0CE8-1BF0-0D6B-D0AEA82A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9B56-A4CF-4048-93C5-CA03990B432E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pic>
        <p:nvPicPr>
          <p:cNvPr id="6" name="protein_nucleic">
            <a:hlinkClick r:id="" action="ppaction://media"/>
            <a:extLst>
              <a:ext uri="{FF2B5EF4-FFF2-40B4-BE49-F238E27FC236}">
                <a16:creationId xmlns:a16="http://schemas.microsoft.com/office/drawing/2014/main" id="{05201F8C-52A0-313E-3908-D64E6523311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7"/>
          <a:srcRect l="16664" t="21037" r="23487" b="19620"/>
          <a:stretch/>
        </p:blipFill>
        <p:spPr>
          <a:xfrm>
            <a:off x="6767449" y="3930654"/>
            <a:ext cx="2952328" cy="292734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344CA4-3958-AE09-748F-2A5BED956C21}"/>
              </a:ext>
            </a:extLst>
          </p:cNvPr>
          <p:cNvSpPr txBox="1"/>
          <p:nvPr/>
        </p:nvSpPr>
        <p:spPr>
          <a:xfrm>
            <a:off x="3759429" y="2984546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7u7w</a:t>
            </a:r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4B45A46-4A2C-1707-0817-2FD90205D5B4}"/>
              </a:ext>
            </a:extLst>
          </p:cNvPr>
          <p:cNvSpPr txBox="1"/>
          <p:nvPr/>
        </p:nvSpPr>
        <p:spPr>
          <a:xfrm>
            <a:off x="7871669" y="87006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inputs</a:t>
            </a:r>
            <a:endParaRPr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37023BA-5918-2385-C25D-38A2BB8D3387}"/>
              </a:ext>
            </a:extLst>
          </p:cNvPr>
          <p:cNvGrpSpPr/>
          <p:nvPr/>
        </p:nvGrpSpPr>
        <p:grpSpPr>
          <a:xfrm>
            <a:off x="7717855" y="2433533"/>
            <a:ext cx="1033365" cy="792088"/>
            <a:chOff x="8105502" y="3840200"/>
            <a:chExt cx="1033365" cy="792088"/>
          </a:xfrm>
        </p:grpSpPr>
        <p:sp>
          <p:nvSpPr>
            <p:cNvPr id="19" name="右矢印 18">
              <a:extLst>
                <a:ext uri="{FF2B5EF4-FFF2-40B4-BE49-F238E27FC236}">
                  <a16:creationId xmlns:a16="http://schemas.microsoft.com/office/drawing/2014/main" id="{71B1F47F-3BD8-C80A-59F7-74EFD2FEB217}"/>
                </a:ext>
              </a:extLst>
            </p:cNvPr>
            <p:cNvSpPr/>
            <p:nvPr/>
          </p:nvSpPr>
          <p:spPr>
            <a:xfrm rot="5400000">
              <a:off x="8351798" y="4109022"/>
              <a:ext cx="510504" cy="536027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CD86761-BE94-C8E2-695A-7BB20A460B2F}"/>
                </a:ext>
              </a:extLst>
            </p:cNvPr>
            <p:cNvSpPr/>
            <p:nvPr/>
          </p:nvSpPr>
          <p:spPr>
            <a:xfrm>
              <a:off x="8105502" y="3840200"/>
              <a:ext cx="10333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DAF440D-57A1-DF13-7D06-4C4D94953DB8}"/>
              </a:ext>
            </a:extLst>
          </p:cNvPr>
          <p:cNvSpPr txBox="1"/>
          <p:nvPr/>
        </p:nvSpPr>
        <p:spPr>
          <a:xfrm>
            <a:off x="6240016" y="1210141"/>
            <a:ext cx="41148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800">
                <a:latin typeface="MS Gothic" panose="020B0609070205080204" pitchFamily="49" charset="-128"/>
                <a:ea typeface="MS Gothic" panose="020B0609070205080204" pitchFamily="49" charset="-128"/>
              </a:rPr>
              <a:t>&gt;7U7W_1|Chain A|DNA polymerase eta|Homo sapiens (9606)</a:t>
            </a:r>
          </a:p>
          <a:p>
            <a:r>
              <a:rPr lang="ja-JP" altLang="en-US" sz="800">
                <a:latin typeface="MS Gothic" panose="020B0609070205080204" pitchFamily="49" charset="-128"/>
                <a:ea typeface="MS Gothic" panose="020B0609070205080204" pitchFamily="49" charset="-128"/>
              </a:rPr>
              <a:t>GPHMATGQDRVVALVDMDCFFVQVEQRQNPHLRNKPCAVVQYKSWKGGGIIAVSYEARAFGVTRSMWADDAKKLCPDLLLAQVRESRGKANLTKYREASVEVMEIMSRFAVIERASIDEAYVDLTSAVQERLQKLQGQPISADLLPSTYIEGLPQGPTTAEETVQKEGMRKQGLFQWLDSLQIDNLTSPDLQLTVGAVIVEEMRAAIERETGFQCSAGISHNKVLAKLACGLNKPNRQTLVSHGSVPQLFSQMPIRKIRSLGGKLGASVIEILGIEYMGELTQFTESQLQSHFGEKNGSWLYAMCRGIEHDPVKPRQLPKTIGCSKNFPGKTALATREQVQWWLLQLAQELEERLTKDRNDNDRVATQLVVSIRVQGDKRLSSLRRCCALTRYDAHKMSHDAFTVIKNCNTSGIQTEWSPPLTMLFLCATKFSAS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FA4508-5479-4271-4C88-F17B13DBCC2A}"/>
              </a:ext>
            </a:extLst>
          </p:cNvPr>
          <p:cNvSpPr txBox="1"/>
          <p:nvPr/>
        </p:nvSpPr>
        <p:spPr>
          <a:xfrm>
            <a:off x="6240016" y="2304023"/>
            <a:ext cx="1944216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000"/>
              <a:t>&gt;7U7W_2|Chain B[auth T]|DNA </a:t>
            </a:r>
            <a:endParaRPr lang="en-US" altLang="ja-JP" sz="1000" dirty="0"/>
          </a:p>
          <a:p>
            <a:r>
              <a:rPr lang="ja-JP" altLang="en-US" sz="1000"/>
              <a:t>CATTATGACGCT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711C901-69D7-C0D9-2E4F-8BBCC877CC3F}"/>
              </a:ext>
            </a:extLst>
          </p:cNvPr>
          <p:cNvSpPr txBox="1"/>
          <p:nvPr/>
        </p:nvSpPr>
        <p:spPr>
          <a:xfrm>
            <a:off x="8284840" y="2308810"/>
            <a:ext cx="2069976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000"/>
              <a:t>&gt;7U7W_3|Chain C[auth P]|DNA</a:t>
            </a:r>
          </a:p>
          <a:p>
            <a:r>
              <a:rPr lang="ja-JP" altLang="en-US" sz="1000"/>
              <a:t>AGCGTCAT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9E256E5-4A3F-E095-6480-37A782832676}"/>
              </a:ext>
            </a:extLst>
          </p:cNvPr>
          <p:cNvSpPr txBox="1"/>
          <p:nvPr/>
        </p:nvSpPr>
        <p:spPr>
          <a:xfrm>
            <a:off x="7383954" y="3135121"/>
            <a:ext cx="18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MSA generation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875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7330FB-D297-3A06-C095-E496FA94A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204580"/>
            <a:ext cx="5155185" cy="35949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8AE9AC3-DF2B-D22F-D159-02D97B20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172460" cy="498227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D8F313-B1D0-E12A-F26C-DF8CB298EB73}"/>
              </a:ext>
            </a:extLst>
          </p:cNvPr>
          <p:cNvSpPr txBox="1"/>
          <p:nvPr/>
        </p:nvSpPr>
        <p:spPr>
          <a:xfrm>
            <a:off x="2454611" y="123794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7u7w</a:t>
            </a:r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DA75286-449B-3D54-317C-2A97D1C173F4}"/>
              </a:ext>
            </a:extLst>
          </p:cNvPr>
          <p:cNvSpPr txBox="1"/>
          <p:nvPr/>
        </p:nvSpPr>
        <p:spPr>
          <a:xfrm>
            <a:off x="8226721" y="132135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3fap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6529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Macintosh PowerPoint</Application>
  <PresentationFormat>ワイド画面</PresentationFormat>
  <Paragraphs>22</Paragraphs>
  <Slides>4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MS Gothic</vt:lpstr>
      <vt:lpstr>游ゴシック</vt:lpstr>
      <vt:lpstr>游ゴシック Light</vt:lpstr>
      <vt:lpstr>Arial</vt:lpstr>
      <vt:lpstr>Office テーマ</vt:lpstr>
      <vt:lpstr>PowerPoint プレゼンテーション</vt:lpstr>
      <vt:lpstr>RoseTTAFold All-Atom</vt:lpstr>
      <vt:lpstr>RF2aa on ABCI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山守優</dc:creator>
  <cp:lastModifiedBy>山守優</cp:lastModifiedBy>
  <cp:revision>2</cp:revision>
  <dcterms:created xsi:type="dcterms:W3CDTF">2024-03-21T08:37:28Z</dcterms:created>
  <dcterms:modified xsi:type="dcterms:W3CDTF">2024-12-26T06:48:56Z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2024-12-26T06:48:54Z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8a48747b-0260-466d-acbd-dbc78cb81ee4</vt:lpwstr>
  </property>
  <property fmtid="{D5CDD505-2E9C-101B-9397-08002B2CF9AE}" pid="8" name="MSIP_Label_ddc55989-3c9e-4466-8514-eac6f80f6373_ContentBits">
    <vt:lpwstr>0</vt:lpwstr>
  </property>
</Properties>
</file>